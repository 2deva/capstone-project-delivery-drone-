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69" r:id="rId3"/>
    <p:sldId id="257" r:id="rId4"/>
    <p:sldId id="275" r:id="rId5"/>
    <p:sldId id="274" r:id="rId6"/>
    <p:sldId id="276" r:id="rId7"/>
    <p:sldId id="277" r:id="rId8"/>
    <p:sldId id="273" r:id="rId9"/>
    <p:sldId id="278" r:id="rId10"/>
    <p:sldId id="271" r:id="rId11"/>
    <p:sldId id="279" r:id="rId12"/>
    <p:sldId id="268" r:id="rId13"/>
    <p:sldId id="270" r:id="rId14"/>
    <p:sldId id="265" r:id="rId15"/>
    <p:sldId id="26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2" d="100"/>
          <a:sy n="82" d="100"/>
        </p:scale>
        <p:origin x="691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04.05503" TargetMode="External"/><Relationship Id="rId2" Type="http://schemas.openxmlformats.org/officeDocument/2006/relationships/hyperlink" Target="https://www.mdpi.com/2076-3417/14/11/435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209.01580" TargetMode="External"/><Relationship Id="rId5" Type="http://schemas.openxmlformats.org/officeDocument/2006/relationships/hyperlink" Target="https://www.mdpi.com/2075-1702/10/9/737" TargetMode="External"/><Relationship Id="rId4" Type="http://schemas.openxmlformats.org/officeDocument/2006/relationships/hyperlink" Target="https://arxiv.org/abs/2110.02429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2deva/Capstone-Project-Delivery-Drone-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10.02429" TargetMode="External"/><Relationship Id="rId7" Type="http://schemas.openxmlformats.org/officeDocument/2006/relationships/hyperlink" Target="https://arxiv.org/abs/2209.01580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dpi.com/2075-1702/10/9/737" TargetMode="External"/><Relationship Id="rId5" Type="http://schemas.openxmlformats.org/officeDocument/2006/relationships/hyperlink" Target="https://arxiv.org/abs/2104.05503" TargetMode="External"/><Relationship Id="rId4" Type="http://schemas.openxmlformats.org/officeDocument/2006/relationships/hyperlink" Target="https://www.mdpi.com/2076-3417/14/11/4358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/>
              <a:t>Design and Development of a Budget-Friendly Autonomous Drone for Short-Range Package Delivery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ISE_44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 VIDYA 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187808736"/>
              </p:ext>
            </p:extLst>
          </p:nvPr>
        </p:nvGraphicFramePr>
        <p:xfrm>
          <a:off x="394727" y="2513340"/>
          <a:ext cx="5819461" cy="2434541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239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0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609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60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81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/>
                        <a:t>20221ISE0001</a:t>
                      </a:r>
                      <a:endParaRPr sz="1600" b="1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/>
                        <a:t>GORTHI DEVENDRA NAIDU</a:t>
                      </a:r>
                      <a:endParaRPr sz="1600" b="1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81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/>
                        <a:t>20221ISE0005</a:t>
                      </a:r>
                      <a:endParaRPr sz="1600" b="1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/>
                        <a:t>BODIMANI SAI DORABABU REDDY</a:t>
                      </a:r>
                      <a:endParaRPr sz="1600" b="1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60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/>
                        <a:t>20221ISE0081</a:t>
                      </a:r>
                      <a:endParaRPr sz="1600" b="1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/>
                        <a:t>MANOJ HK</a:t>
                      </a:r>
                      <a:endParaRPr sz="1600" b="1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60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826000"/>
            <a:ext cx="12249915" cy="126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B.Tech (ISE)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18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Zaffar Ali Khan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Suma N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Dr. 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PSCS 135 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2220685"/>
            <a:ext cx="10668000" cy="3875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Organization: PRESIDENCY UNIVERSITY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HARDWARE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 Student Innovation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270330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796CC-77A3-CF46-2140-43E0C72F0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7D4B5-6E1A-C9C0-7286-723E68657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080751"/>
            <a:ext cx="10668000" cy="2850501"/>
          </a:xfrm>
        </p:spPr>
        <p:txBody>
          <a:bodyPr>
            <a:normAutofit/>
          </a:bodyPr>
          <a:lstStyle/>
          <a:p>
            <a:pPr marL="76200" indent="0">
              <a:buNone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Conventional drone delivery systems are typically designed for long-distance operations and heavy payloads, making them expensive and impractical for small-scale applications.</a:t>
            </a:r>
          </a:p>
          <a:p>
            <a:pPr marL="76200" indent="0">
              <a:buNone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For short-distance logistics such as campus deliveries, laboratory-to-laboratory transport, or local medical supply drops, there is a need for a compact, budget-friendly autonomous drone.</a:t>
            </a: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883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E0506-B827-52B6-4930-24C37045B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A1FD9B-7E8D-355C-5ACE-97E01D091B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1" y="1172678"/>
            <a:ext cx="1045858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Design and fabricate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lightweight quadcopter frame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suitable for small payloads.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Develop 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autonomous navigation 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with waypoint tracking, geofencing.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Implement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servo-based payload release mechanism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for precise package drop.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Test and evaluate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flight stability, endurance, and payload accuracy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Demonstrate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low-cost prototype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feasible for research and experimentation.</a:t>
            </a:r>
          </a:p>
        </p:txBody>
      </p:sp>
    </p:spTree>
    <p:extLst>
      <p:ext uri="{BB962C8B-B14F-4D97-AF65-F5344CB8AC3E}">
        <p14:creationId xmlns:p14="http://schemas.microsoft.com/office/powerpoint/2010/main" val="319552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A6E7F-E03B-74FA-1548-22A0A5E0A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(for Title Selection)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2C2392-C918-7214-EA79-A1D9724190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26367" y="111320"/>
            <a:ext cx="9670661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Companies like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Amazon Prime Air, Google Wing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focus on large-scale, costly drone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Academic works exist on UAV delivery but often emphasize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high payloads, obstacle avoidance, or long ranges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Gap identified: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Affordable, short-range, lightweight delivery UAVs for local or campus-level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786371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DD8F8-4214-D68D-D60E-431EC00A3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34D85-6427-A6ED-FABF-FE289CB67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and Related Work (for Title Selection)</a:t>
            </a:r>
            <a:endParaRPr lang="en-IN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4D49A0-7341-1438-85FD-FA024907A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621" y="1143000"/>
            <a:ext cx="11933852" cy="5099179"/>
          </a:xfrm>
        </p:spPr>
        <p:txBody>
          <a:bodyPr/>
          <a:lstStyle/>
          <a:p>
            <a:pPr marL="76200" indent="0">
              <a:buNone/>
            </a:pPr>
            <a:r>
              <a:rPr lang="en-IN" dirty="0"/>
              <a:t> 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73FFE97-EB6B-E2B6-AE21-EE33A927D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872540"/>
              </p:ext>
            </p:extLst>
          </p:nvPr>
        </p:nvGraphicFramePr>
        <p:xfrm>
          <a:off x="1560689" y="1143000"/>
          <a:ext cx="9172221" cy="4995737"/>
        </p:xfrm>
        <a:graphic>
          <a:graphicData uri="http://schemas.openxmlformats.org/drawingml/2006/table">
            <a:tbl>
              <a:tblPr/>
              <a:tblGrid>
                <a:gridCol w="3057407">
                  <a:extLst>
                    <a:ext uri="{9D8B030D-6E8A-4147-A177-3AD203B41FA5}">
                      <a16:colId xmlns:a16="http://schemas.microsoft.com/office/drawing/2014/main" val="181517003"/>
                    </a:ext>
                  </a:extLst>
                </a:gridCol>
                <a:gridCol w="3057407">
                  <a:extLst>
                    <a:ext uri="{9D8B030D-6E8A-4147-A177-3AD203B41FA5}">
                      <a16:colId xmlns:a16="http://schemas.microsoft.com/office/drawing/2014/main" val="505306910"/>
                    </a:ext>
                  </a:extLst>
                </a:gridCol>
                <a:gridCol w="3057407">
                  <a:extLst>
                    <a:ext uri="{9D8B030D-6E8A-4147-A177-3AD203B41FA5}">
                      <a16:colId xmlns:a16="http://schemas.microsoft.com/office/drawing/2014/main" val="2225453747"/>
                    </a:ext>
                  </a:extLst>
                </a:gridCol>
              </a:tblGrid>
              <a:tr h="262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Paper / Source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Focus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Relevance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936587"/>
                  </a:ext>
                </a:extLst>
              </a:tr>
              <a:tr h="81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hlinkClick r:id="rId2"/>
                        </a:rPr>
                        <a:t>Design and Control of an Ultra-Low-Cost Logistic Delivery UAV (MDPI, 2022)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Fixed-wing drone using inexpensive materials, tested for ≤1 kg payload delivery.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Shows feasibility of </a:t>
                      </a:r>
                      <a:r>
                        <a:rPr lang="en-US" b="1"/>
                        <a:t>low-cost UAV delivery systems</a:t>
                      </a:r>
                      <a:r>
                        <a:rPr lang="en-US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063378"/>
                  </a:ext>
                </a:extLst>
              </a:tr>
              <a:tr h="628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hlinkClick r:id="rId3"/>
                        </a:rPr>
                        <a:t>Autonomous Drone Delivery to Your Door and Yard (arXiv, 2022)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Vision-based landing zone detection for safe package drop.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Relevant for </a:t>
                      </a:r>
                      <a:r>
                        <a:rPr lang="en-US" b="1"/>
                        <a:t>drop-zone accuracy</a:t>
                      </a:r>
                      <a:r>
                        <a:rPr lang="en-US"/>
                        <a:t> and autonomous operation.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567431"/>
                  </a:ext>
                </a:extLst>
              </a:tr>
              <a:tr h="81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hlinkClick r:id="rId4"/>
                        </a:rPr>
                        <a:t>Autonomous Aerial Delivery Vehicles: A Survey (arXiv, 2023)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Comprehensive review of UAV delivery techniques (control, payload release, safety).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Provides </a:t>
                      </a:r>
                      <a:r>
                        <a:rPr lang="en-US" b="1"/>
                        <a:t>context and gaps</a:t>
                      </a:r>
                      <a:r>
                        <a:rPr lang="en-US"/>
                        <a:t> in UAV delivery research.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721559"/>
                  </a:ext>
                </a:extLst>
              </a:tr>
              <a:tr h="81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hlinkClick r:id="rId5"/>
                        </a:rPr>
                        <a:t>Embedded Payload Solutions in UAVs (MDPI, 2022)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Focus on payload handling for small and medium packages (medical items).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Useful for designing a </a:t>
                      </a:r>
                      <a:r>
                        <a:rPr lang="en-US" b="1"/>
                        <a:t>safe payload release system</a:t>
                      </a:r>
                      <a:r>
                        <a:rPr lang="en-US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486630"/>
                  </a:ext>
                </a:extLst>
              </a:tr>
              <a:tr h="81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linkClick r:id="rId6"/>
                        </a:rPr>
                        <a:t>Autonomous Delivery of Multiple Packages Using Single Drone (</a:t>
                      </a:r>
                      <a:r>
                        <a:rPr lang="en-US" dirty="0" err="1">
                          <a:hlinkClick r:id="rId6"/>
                        </a:rPr>
                        <a:t>arXiv</a:t>
                      </a:r>
                      <a:r>
                        <a:rPr lang="en-US" dirty="0">
                          <a:hlinkClick r:id="rId6"/>
                        </a:rPr>
                        <a:t>, 2022)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Prototype for multi-package delivery in urban settings.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Shows potential of </a:t>
                      </a:r>
                      <a:r>
                        <a:rPr lang="en-US" b="1" dirty="0"/>
                        <a:t>multi-drop mechanisms</a:t>
                      </a:r>
                      <a:r>
                        <a:rPr lang="en-US" dirty="0"/>
                        <a:t>, but complex for budget builds.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911953"/>
                  </a:ext>
                </a:extLst>
              </a:tr>
              <a:tr h="81239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/>
                    </a:p>
                  </a:txBody>
                  <a:tcPr marL="78619" marR="78619" marT="39310" marB="393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78619" marR="78619" marT="39310" marB="393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78619" marR="78619" marT="39310" marB="393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1506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794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190500" algn="just">
              <a:buClr>
                <a:schemeClr val="dk1"/>
              </a:buClr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Technology Stack Components: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76200" indent="0"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1. Hardware Components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Drone Frame: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hexcopter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frame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Motors &amp; Propellers: 1000kv A2212/13T brushless DC motors with 10″ propellers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ESC (Electronic Speed Controller): 4-in-1, 30 A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BLHeli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-S/32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Battery: 3S 5200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mAh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LiPo with XT60 connector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Flight Controller (FC): Pixhawk 2.4.8(supports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ArduPilot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or PX4)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GPS + Compass Module: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Ublox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M8N / M9N for navigation</a:t>
            </a:r>
          </a:p>
          <a:p>
            <a:pPr marL="76200" indent="0"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Sensors: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Barometer (altitude hold)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Lidar/Ultrasonic (for low-altitude precision, optional)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Payload Release Mechanism: Micro-servo with 3D printed latch/hook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Telemetry Module: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SiK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Radio /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ExpressLRS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(for ground communication)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Remote Controller: 2.4 GHz RC system (for manual override)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DE147-8160-747F-FBEB-7A7EC02F8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8CE60-0E4E-6EE5-0C79-64B1802E2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989045"/>
            <a:ext cx="10169331" cy="4553339"/>
          </a:xfrm>
        </p:spPr>
        <p:txBody>
          <a:bodyPr>
            <a:noAutofit/>
          </a:bodyPr>
          <a:lstStyle/>
          <a:p>
            <a:pPr marL="76200" indent="0"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2. Software Components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PX4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Ardupilot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(open-source, free)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Mission Planner (Windows)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3. Communication &amp; Control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Telemetry Link: 433 MHz / 915 MHz (depending on region)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RC Link: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FlySky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Failsafe Mechanisms: Geofencing, Low-battery land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165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Personal delivery drones can speed up delivery by flying directly to the destination.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Key challenges include accurate navigation, and safe package release.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drone needs essential sensors and a reliable flight controller for manual and basic autonomous flight.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simple, servo-driven mechanism should securely hold and release the package.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design must be affordable and modular for future upgrades.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goal is to build a working prototype that can deliver a small package safely within a short range.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F6B2B-7E83-CF4C-0554-C2E9D92E6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Innovation and novel contributions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C142FF-7390-4BCC-C7B9-8A8054FCE3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472418"/>
            <a:ext cx="1066799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Budget-friendly design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using low-cost components.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Lightweight servo-based release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mechanism for ≤0.5 kg payloads.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Optimized for short-range missions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(up to 1 km).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Safety features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like geofencing &amp; return-to-home.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Open-source autonomy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with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ArduPilot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/PX4 integration.</a:t>
            </a:r>
          </a:p>
        </p:txBody>
      </p:sp>
    </p:spTree>
    <p:extLst>
      <p:ext uri="{BB962C8B-B14F-4D97-AF65-F5344CB8AC3E}">
        <p14:creationId xmlns:p14="http://schemas.microsoft.com/office/powerpoint/2010/main" val="1769534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https://github.com/2deva/Capstone-Project-Delivery-Drone-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541AF0-CFA0-D78A-E7CF-DB4BF54C9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636" y="1604384"/>
            <a:ext cx="807720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fontAlgn="ctr"/>
            <a:r>
              <a:rPr lang="en-US" dirty="0">
                <a:hlinkClick r:id="rId3"/>
              </a:rPr>
              <a:t>Autonomous Aerial Delivery Vehicles: A Survey (</a:t>
            </a:r>
            <a:r>
              <a:rPr lang="en-US" dirty="0" err="1">
                <a:hlinkClick r:id="rId3"/>
              </a:rPr>
              <a:t>arXiv</a:t>
            </a:r>
            <a:r>
              <a:rPr lang="en-US" dirty="0">
                <a:hlinkClick r:id="rId3"/>
              </a:rPr>
              <a:t>, 2023)</a:t>
            </a:r>
            <a:endParaRPr lang="en-US" dirty="0"/>
          </a:p>
          <a:p>
            <a:pPr marL="76200" indent="0" fontAlgn="ctr">
              <a:buNone/>
            </a:pPr>
            <a:endParaRPr lang="en-US" dirty="0">
              <a:hlinkClick r:id="rId4"/>
            </a:endParaRPr>
          </a:p>
          <a:p>
            <a:pPr fontAlgn="ctr"/>
            <a:r>
              <a:rPr lang="en-US" dirty="0">
                <a:hlinkClick r:id="rId4"/>
              </a:rPr>
              <a:t>Design and Control of an Ultra-Low-Cost Logistic Delivery UAV (MDPI, 2022)</a:t>
            </a:r>
            <a:endParaRPr lang="en-US" dirty="0"/>
          </a:p>
          <a:p>
            <a:pPr fontAlgn="ctr"/>
            <a:endParaRPr lang="en-IN" dirty="0"/>
          </a:p>
          <a:p>
            <a:pPr fontAlgn="ctr"/>
            <a:r>
              <a:rPr lang="en-US" dirty="0">
                <a:hlinkClick r:id="rId5"/>
              </a:rPr>
              <a:t>Autonomous Drone Delivery to Your Door and Yard (</a:t>
            </a:r>
            <a:r>
              <a:rPr lang="en-US" dirty="0" err="1">
                <a:hlinkClick r:id="rId5"/>
              </a:rPr>
              <a:t>arXiv</a:t>
            </a:r>
            <a:r>
              <a:rPr lang="en-US" dirty="0">
                <a:hlinkClick r:id="rId5"/>
              </a:rPr>
              <a:t>, 2022)</a:t>
            </a:r>
            <a:endParaRPr lang="en-US" dirty="0"/>
          </a:p>
          <a:p>
            <a:pPr marL="76200" indent="0" fontAlgn="ctr">
              <a:buNone/>
            </a:pPr>
            <a:endParaRPr lang="en-IN" dirty="0"/>
          </a:p>
          <a:p>
            <a:pPr fontAlgn="ctr"/>
            <a:r>
              <a:rPr lang="en-US" dirty="0">
                <a:hlinkClick r:id="rId6"/>
              </a:rPr>
              <a:t>Embedded Payload Solutions in UAVs (MDPI, 2022)</a:t>
            </a:r>
            <a:endParaRPr lang="en-US" dirty="0"/>
          </a:p>
          <a:p>
            <a:pPr fontAlgn="ctr"/>
            <a:endParaRPr lang="en-IN" dirty="0"/>
          </a:p>
          <a:p>
            <a:pPr fontAlgn="ctr"/>
            <a:r>
              <a:rPr lang="en-US" dirty="0">
                <a:hlinkClick r:id="rId7"/>
              </a:rPr>
              <a:t>Autonomous Delivery of Multiple Packages Using Single Drone (</a:t>
            </a:r>
            <a:r>
              <a:rPr lang="en-US" dirty="0" err="1">
                <a:hlinkClick r:id="rId7"/>
              </a:rPr>
              <a:t>arXiv</a:t>
            </a:r>
            <a:r>
              <a:rPr lang="en-US" dirty="0">
                <a:hlinkClick r:id="rId7"/>
              </a:rPr>
              <a:t>, 2022)</a:t>
            </a:r>
            <a:endParaRPr lang="en-IN" dirty="0"/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2256</TotalTime>
  <Words>921</Words>
  <Application>Microsoft Office PowerPoint</Application>
  <PresentationFormat>Widescreen</PresentationFormat>
  <Paragraphs>144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Cambria</vt:lpstr>
      <vt:lpstr>Verdana</vt:lpstr>
      <vt:lpstr>Wingdings</vt:lpstr>
      <vt:lpstr>Bioinformatics</vt:lpstr>
      <vt:lpstr>Design and Development of a Budget-Friendly Autonomous Drone for Short-Range Package Delivery</vt:lpstr>
      <vt:lpstr>Problem Statement Number: PSCS 135  </vt:lpstr>
      <vt:lpstr>Content</vt:lpstr>
      <vt:lpstr>Problem Statement</vt:lpstr>
      <vt:lpstr>Objectives</vt:lpstr>
      <vt:lpstr>Background and Related Work (for Title Selection)</vt:lpstr>
      <vt:lpstr>Background and Related Work (for Title Selection)</vt:lpstr>
      <vt:lpstr> Technology Stack Components:</vt:lpstr>
      <vt:lpstr>Technology Stack Components:</vt:lpstr>
      <vt:lpstr>Analysis of Problem Statement (contd...)</vt:lpstr>
      <vt:lpstr>Innovation and novel contributions</vt:lpstr>
      <vt:lpstr>Github Link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Deva .</cp:lastModifiedBy>
  <cp:revision>46</cp:revision>
  <dcterms:modified xsi:type="dcterms:W3CDTF">2025-11-12T04:43:30Z</dcterms:modified>
</cp:coreProperties>
</file>